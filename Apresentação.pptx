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Arvo"/>
      <p:regular r:id="rId13"/>
      <p:bold r:id="rId14"/>
      <p:italic r:id="rId15"/>
      <p:boldItalic r:id="rId16"/>
    </p:embeddedFont>
    <p:embeddedFont>
      <p:font typeface="Roboto Condensed"/>
      <p:regular r:id="rId17"/>
      <p:bold r:id="rId18"/>
      <p:italic r:id="rId19"/>
      <p:boldItalic r:id="rId20"/>
    </p:embeddedFont>
    <p:embeddedFont>
      <p:font typeface="Roboto Condensed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Condensed-boldItalic.fntdata"/><Relationship Id="rId11" Type="http://schemas.openxmlformats.org/officeDocument/2006/relationships/slide" Target="slides/slide7.xml"/><Relationship Id="rId22" Type="http://schemas.openxmlformats.org/officeDocument/2006/relationships/font" Target="fonts/RobotoCondensedLight-bold.fntdata"/><Relationship Id="rId10" Type="http://schemas.openxmlformats.org/officeDocument/2006/relationships/slide" Target="slides/slide6.xml"/><Relationship Id="rId21" Type="http://schemas.openxmlformats.org/officeDocument/2006/relationships/font" Target="fonts/RobotoCondensedLight-regular.fntdata"/><Relationship Id="rId13" Type="http://schemas.openxmlformats.org/officeDocument/2006/relationships/font" Target="fonts/Arvo-regular.fntdata"/><Relationship Id="rId24" Type="http://schemas.openxmlformats.org/officeDocument/2006/relationships/font" Target="fonts/RobotoCondensedLight-boldItalic.fntdata"/><Relationship Id="rId12" Type="http://schemas.openxmlformats.org/officeDocument/2006/relationships/slide" Target="slides/slide8.xml"/><Relationship Id="rId23" Type="http://schemas.openxmlformats.org/officeDocument/2006/relationships/font" Target="fonts/RobotoCondensed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vo-italic.fntdata"/><Relationship Id="rId14" Type="http://schemas.openxmlformats.org/officeDocument/2006/relationships/font" Target="fonts/Arvo-bold.fntdata"/><Relationship Id="rId17" Type="http://schemas.openxmlformats.org/officeDocument/2006/relationships/font" Target="fonts/RobotoCondensed-regular.fntdata"/><Relationship Id="rId16" Type="http://schemas.openxmlformats.org/officeDocument/2006/relationships/font" Target="fonts/Arvo-boldItalic.fntdata"/><Relationship Id="rId5" Type="http://schemas.openxmlformats.org/officeDocument/2006/relationships/slide" Target="slides/slide1.xml"/><Relationship Id="rId19" Type="http://schemas.openxmlformats.org/officeDocument/2006/relationships/font" Target="fonts/RobotoCondensed-italic.fntdata"/><Relationship Id="rId6" Type="http://schemas.openxmlformats.org/officeDocument/2006/relationships/slide" Target="slides/slide2.xml"/><Relationship Id="rId18" Type="http://schemas.openxmlformats.org/officeDocument/2006/relationships/font" Target="fonts/RobotoCondense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b6a4e29ca4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b6a4e29ca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b6a4e29ca4_0_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b6a4e29ca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b6a4e29ca4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b6a4e29c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b6a4e29ca4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b6a4e29ca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b6a4e29ca4_0_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b6a4e29ca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" name="Google Shape;22;p2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flipH="1" rot="10800000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" name="Google Shape;39;p3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" name="Google Shape;40;p3"/>
          <p:cNvSpPr txBox="1"/>
          <p:nvPr>
            <p:ph idx="1" type="subTitle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44" name="Google Shape;44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" name="Google Shape;45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" name="Google Shape;48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9" name="Google Shape;49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" name="Google Shape;51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52" name="Google Shape;52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53" name="Google Shape;53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55" name="Google Shape;55;p4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56" name="Google Shape;56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58" name="Google Shape;58;p4"/>
          <p:cNvSpPr txBox="1"/>
          <p:nvPr>
            <p:ph idx="1" type="body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i="1" sz="3000">
                <a:solidFill>
                  <a:srgbClr val="FFFFFF"/>
                </a:solidFill>
              </a:defRPr>
            </a:lvl1pPr>
            <a:lvl2pPr indent="-419100" lvl="1" marL="9144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2pPr>
            <a:lvl3pPr indent="-419100" lvl="2" marL="13716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3pPr>
            <a:lvl4pPr indent="-419100" lvl="3" marL="18288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4pPr>
            <a:lvl5pPr indent="-419100" lvl="4" marL="22860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5pPr>
            <a:lvl6pPr indent="-419100" lvl="5" marL="27432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6pPr>
            <a:lvl7pPr indent="-419100" lvl="6" marL="32004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7pPr>
            <a:lvl8pPr indent="-419100" lvl="7" marL="36576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8pPr>
            <a:lvl9pPr indent="-419100" lvl="8" marL="41148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9" name="Google Shape;59;p4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accent5"/>
                </a:solidFill>
              </a:rPr>
              <a:t>“</a:t>
            </a:r>
            <a:endParaRPr b="1" sz="7200">
              <a:solidFill>
                <a:schemeClr val="accent5"/>
              </a:solidFill>
            </a:endParaRPr>
          </a:p>
        </p:txBody>
      </p:sp>
      <p:sp>
        <p:nvSpPr>
          <p:cNvPr id="60" name="Google Shape;60;p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" name="Google Shape;98;p6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1" type="body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indent="-355600" lvl="3" marL="18288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indent="-355600" lvl="4" marL="22860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indent="-355600" lvl="5" marL="27432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indent="-355600" lvl="6" marL="3200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indent="-355600" lvl="7" marL="3657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indent="-355600" lvl="8" marL="41148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/>
        </p:txBody>
      </p:sp>
      <p:sp>
        <p:nvSpPr>
          <p:cNvPr id="100" name="Google Shape;100;p6"/>
          <p:cNvSpPr txBox="1"/>
          <p:nvPr>
            <p:ph idx="2" type="body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indent="-355600" lvl="3" marL="18288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indent="-355600" lvl="4" marL="22860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indent="-355600" lvl="5" marL="27432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indent="-355600" lvl="6" marL="32004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indent="-355600" lvl="7" marL="3657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indent="-355600" lvl="8" marL="41148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/>
        </p:txBody>
      </p:sp>
      <p:sp>
        <p:nvSpPr>
          <p:cNvPr id="101" name="Google Shape;101;p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4" name="Google Shape;104;p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Google Shape;105;p7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Google Shape;108;p7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Google Shape;111;p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2" name="Google Shape;112;p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" name="Google Shape;119;p7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21" name="Google Shape;121;p7"/>
          <p:cNvSpPr txBox="1"/>
          <p:nvPr>
            <p:ph idx="2" type="body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22" name="Google Shape;122;p7"/>
          <p:cNvSpPr txBox="1"/>
          <p:nvPr>
            <p:ph idx="3" type="body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23" name="Google Shape;123;p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" name="Google Shape;141;p8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2" name="Google Shape;142;p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/>
        </p:txBody>
      </p:sp>
      <p:sp>
        <p:nvSpPr>
          <p:cNvPr id="153" name="Google Shape;153;p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9" name="Google Shape;179;p1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b="1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b="1" sz="12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localhost:8080/swagger-ui.html#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ctrTitle"/>
          </p:nvPr>
        </p:nvSpPr>
        <p:spPr>
          <a:xfrm>
            <a:off x="685800" y="1090750"/>
            <a:ext cx="7457100" cy="296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EMPORIA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Componentes: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- </a:t>
            </a:r>
            <a:r>
              <a:rPr lang="en" sz="1900"/>
              <a:t>Isac Samuel de Souza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-Jacó Gonzaga Brasil Neto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- Alex Nicol de Castro Chaves Junior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ctrTitle"/>
          </p:nvPr>
        </p:nvSpPr>
        <p:spPr>
          <a:xfrm>
            <a:off x="463525" y="3218173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190" name="Google Shape;190;p1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do Sistema</a:t>
            </a:r>
            <a:endParaRPr/>
          </a:p>
        </p:txBody>
      </p:sp>
      <p:sp>
        <p:nvSpPr>
          <p:cNvPr id="197" name="Google Shape;197;p13"/>
          <p:cNvSpPr txBox="1"/>
          <p:nvPr>
            <p:ph idx="1" type="body"/>
          </p:nvPr>
        </p:nvSpPr>
        <p:spPr>
          <a:xfrm>
            <a:off x="282225" y="1922250"/>
            <a:ext cx="78825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EMPORIA - Sist</a:t>
            </a:r>
            <a:r>
              <a:rPr b="1" lang="en">
                <a:latin typeface="Roboto Condensed"/>
                <a:ea typeface="Roboto Condensed"/>
                <a:cs typeface="Roboto Condensed"/>
                <a:sym typeface="Roboto Condensed"/>
              </a:rPr>
              <a:t>EM</a:t>
            </a:r>
            <a:r>
              <a:rPr lang="en"/>
              <a:t>a </a:t>
            </a:r>
            <a:r>
              <a:rPr b="1" lang="en">
                <a:latin typeface="Roboto Condensed"/>
                <a:ea typeface="Roboto Condensed"/>
                <a:cs typeface="Roboto Condensed"/>
                <a:sym typeface="Roboto Condensed"/>
              </a:rPr>
              <a:t>P</a:t>
            </a:r>
            <a:r>
              <a:rPr lang="en"/>
              <a:t>ara C</a:t>
            </a:r>
            <a:r>
              <a:rPr b="1" lang="en">
                <a:latin typeface="Roboto Condensed"/>
                <a:ea typeface="Roboto Condensed"/>
                <a:cs typeface="Roboto Condensed"/>
                <a:sym typeface="Roboto Condensed"/>
              </a:rPr>
              <a:t>O</a:t>
            </a:r>
            <a:r>
              <a:rPr lang="en"/>
              <a:t>me</a:t>
            </a:r>
            <a:r>
              <a:rPr b="1" lang="en">
                <a:latin typeface="Roboto Condensed"/>
                <a:ea typeface="Roboto Condensed"/>
                <a:cs typeface="Roboto Condensed"/>
                <a:sym typeface="Roboto Condensed"/>
              </a:rPr>
              <a:t>R</a:t>
            </a:r>
            <a:r>
              <a:rPr lang="en"/>
              <a:t>c</a:t>
            </a:r>
            <a:r>
              <a:rPr b="1" lang="en">
                <a:latin typeface="Roboto Condensed"/>
                <a:ea typeface="Roboto Condensed"/>
                <a:cs typeface="Roboto Condensed"/>
                <a:sym typeface="Roboto Condensed"/>
              </a:rPr>
              <a:t>IA</a:t>
            </a:r>
            <a:r>
              <a:rPr lang="en"/>
              <a:t>lização de Imóveis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Objetivo: Criação de uma API para Gerenciar a negociação de imóveis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Funções</a:t>
            </a:r>
            <a:endParaRPr/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SzPts val="2400"/>
              <a:buChar char="▻"/>
            </a:pPr>
            <a:r>
              <a:rPr lang="en"/>
              <a:t>- Listagem e Pesquisa de Imóveis</a:t>
            </a:r>
            <a:endParaRPr/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SzPts val="2400"/>
              <a:buChar char="▻"/>
            </a:pPr>
            <a:r>
              <a:rPr lang="en"/>
              <a:t>- Publicação de Notícias por parte dos Corretores	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9" name="Google Shape;199;p13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00" name="Google Shape;200;p13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/>
          <p:nvPr>
            <p:ph type="ctrTitle"/>
          </p:nvPr>
        </p:nvSpPr>
        <p:spPr>
          <a:xfrm>
            <a:off x="463525" y="3218173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Metodologia</a:t>
            </a:r>
            <a:endParaRPr/>
          </a:p>
        </p:txBody>
      </p:sp>
      <p:sp>
        <p:nvSpPr>
          <p:cNvPr id="209" name="Google Shape;209;p1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Tecnologias Utilizadas</a:t>
            </a:r>
            <a:endParaRPr/>
          </a:p>
        </p:txBody>
      </p:sp>
      <p:sp>
        <p:nvSpPr>
          <p:cNvPr id="216" name="Google Shape;216;p15"/>
          <p:cNvSpPr txBox="1"/>
          <p:nvPr>
            <p:ph idx="1" type="body"/>
          </p:nvPr>
        </p:nvSpPr>
        <p:spPr>
          <a:xfrm>
            <a:off x="282225" y="1922250"/>
            <a:ext cx="78825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Spring Boot - Framework em Java para a criação da API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Maven Apache - automação de compilação pra java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PostgreSQL - Banco de Dados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JPA - Java Persistence API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/>
              <a:t>Postman - Plataforma para teste da API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8" name="Google Shape;218;p15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19" name="Google Shape;219;p15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/>
          <p:nvPr>
            <p:ph type="ctrTitle"/>
          </p:nvPr>
        </p:nvSpPr>
        <p:spPr>
          <a:xfrm>
            <a:off x="463525" y="3218173"/>
            <a:ext cx="4094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</a:t>
            </a:r>
            <a:endParaRPr/>
          </a:p>
        </p:txBody>
      </p:sp>
      <p:sp>
        <p:nvSpPr>
          <p:cNvPr id="228" name="Google Shape;228;p1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b="1" sz="3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Tecnologias Utilizadas</a:t>
            </a:r>
            <a:endParaRPr/>
          </a:p>
        </p:txBody>
      </p:sp>
      <p:sp>
        <p:nvSpPr>
          <p:cNvPr id="235" name="Google Shape;235;p17"/>
          <p:cNvSpPr txBox="1"/>
          <p:nvPr>
            <p:ph idx="1" type="body"/>
          </p:nvPr>
        </p:nvSpPr>
        <p:spPr>
          <a:xfrm>
            <a:off x="282225" y="1922250"/>
            <a:ext cx="7882500" cy="31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 u="sng">
                <a:solidFill>
                  <a:schemeClr val="hlink"/>
                </a:solidFill>
                <a:hlinkClick r:id="rId3"/>
              </a:rPr>
              <a:t>Documentação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 Condensed"/>
              <a:buChar char="▰"/>
            </a:pPr>
            <a:r>
              <a:rPr b="1" lang="en">
                <a:latin typeface="Roboto Condensed"/>
                <a:ea typeface="Roboto Condensed"/>
                <a:cs typeface="Roboto Condensed"/>
                <a:sym typeface="Roboto Condensed"/>
              </a:rPr>
              <a:t>Vamos ao Sistema!</a:t>
            </a:r>
            <a:endParaRPr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7" name="Google Shape;237;p17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38" name="Google Shape;238;p17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18"/>
          <p:cNvSpPr txBox="1"/>
          <p:nvPr>
            <p:ph idx="4294967295" type="ctrTitle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5"/>
                </a:solidFill>
              </a:rPr>
              <a:t>OBRIGADO</a:t>
            </a:r>
            <a:r>
              <a:rPr lang="en" sz="6000">
                <a:solidFill>
                  <a:schemeClr val="accent5"/>
                </a:solidFill>
              </a:rPr>
              <a:t>!</a:t>
            </a:r>
            <a:endParaRPr sz="6000">
              <a:solidFill>
                <a:schemeClr val="accent5"/>
              </a:solidFill>
            </a:endParaRPr>
          </a:p>
        </p:txBody>
      </p:sp>
      <p:sp>
        <p:nvSpPr>
          <p:cNvPr id="248" name="Google Shape;248;p18"/>
          <p:cNvSpPr txBox="1"/>
          <p:nvPr>
            <p:ph idx="4294967295" type="subTitle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/>
          </a:p>
        </p:txBody>
      </p:sp>
      <p:grpSp>
        <p:nvGrpSpPr>
          <p:cNvPr id="249" name="Google Shape;249;p18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250" name="Google Shape;250;p18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